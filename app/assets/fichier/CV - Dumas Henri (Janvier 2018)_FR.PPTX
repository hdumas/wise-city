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6"/>
  </p:notesMasterIdLst>
  <p:sldIdLst>
    <p:sldId id="265" r:id="rId5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8"/>
    <p:restoredTop sz="94645"/>
  </p:normalViewPr>
  <p:slideViewPr>
    <p:cSldViewPr snapToGrid="0" snapToObjects="1">
      <p:cViewPr>
        <p:scale>
          <a:sx n="125" d="100"/>
          <a:sy n="125" d="100"/>
        </p:scale>
        <p:origin x="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DC772-57EA-524C-A50F-2C9184785170}" type="datetimeFigureOut">
              <a:rPr lang="fr-FR" smtClean="0"/>
              <a:t>16/01/2018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E5C8F-86D0-D74D-83E2-5BB6E8190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9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EE5C8F-86D0-D74D-83E2-5BB6E8190D8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32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2221" y="1561672"/>
            <a:ext cx="7333179" cy="1395444"/>
          </a:xfrm>
        </p:spPr>
        <p:txBody>
          <a:bodyPr lIns="0" tIns="0" rIns="0" bIns="0" anchor="b">
            <a:noAutofit/>
          </a:bodyPr>
          <a:lstStyle>
            <a:lvl1pPr algn="l">
              <a:defRPr sz="3700"/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2221" y="2984417"/>
            <a:ext cx="7333179" cy="64472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 marL="342874" indent="0" algn="ctr">
              <a:buNone/>
              <a:defRPr sz="1500"/>
            </a:lvl2pPr>
            <a:lvl3pPr marL="685750" indent="0" algn="ctr">
              <a:buNone/>
              <a:defRPr sz="1351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2" indent="0" algn="ctr">
              <a:buNone/>
              <a:defRPr sz="1200"/>
            </a:lvl6pPr>
            <a:lvl7pPr marL="2057247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4" indent="0" algn="ctr">
              <a:buNone/>
              <a:defRPr sz="1200"/>
            </a:lvl9pPr>
          </a:lstStyle>
          <a:p>
            <a:r>
              <a:rPr lang="fr-FR" dirty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82220" y="3673749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76ACB1-9056-AC4F-8F5B-70DEE78D0EE7}" type="datetime4">
              <a:rPr lang="fr-FR" smtClean="0"/>
              <a:t>16 janvier 2018</a:t>
            </a:fld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3304" y="-1"/>
            <a:ext cx="2004645" cy="99921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5630" y="4549611"/>
            <a:ext cx="809759" cy="481806"/>
          </a:xfrm>
          <a:prstGeom prst="rect">
            <a:avLst/>
          </a:prstGeom>
        </p:spPr>
      </p:pic>
      <p:sp>
        <p:nvSpPr>
          <p:cNvPr id="12" name="Espace réservé pour une image  11"/>
          <p:cNvSpPr>
            <a:spLocks noGrp="1"/>
          </p:cNvSpPr>
          <p:nvPr>
            <p:ph type="pic" sz="quarter" idx="11" hasCustomPrompt="1"/>
          </p:nvPr>
        </p:nvSpPr>
        <p:spPr>
          <a:xfrm>
            <a:off x="1582743" y="100123"/>
            <a:ext cx="1777503" cy="1773284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 dirty="0"/>
              <a:t>Logo client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2990417" y="4456650"/>
            <a:ext cx="1376105" cy="62471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13"/>
          <p:cNvSpPr>
            <a:spLocks noGrp="1"/>
          </p:cNvSpPr>
          <p:nvPr>
            <p:ph type="body" sz="quarter" idx="13"/>
          </p:nvPr>
        </p:nvSpPr>
        <p:spPr>
          <a:xfrm>
            <a:off x="1582225" y="4456650"/>
            <a:ext cx="1376105" cy="62471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4413865" y="4456650"/>
            <a:ext cx="1376105" cy="62471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9193" y="366310"/>
            <a:ext cx="5085191" cy="994172"/>
          </a:xfrm>
        </p:spPr>
        <p:txBody>
          <a:bodyPr/>
          <a:lstStyle>
            <a:lvl1pPr>
              <a:defRPr sz="3000"/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9187" y="1447941"/>
            <a:ext cx="5085192" cy="3009406"/>
          </a:xfrm>
        </p:spPr>
        <p:txBody>
          <a:bodyPr/>
          <a:lstStyle>
            <a:lvl1pPr marL="355574" indent="-346050">
              <a:spcBef>
                <a:spcPts val="1000"/>
              </a:spcBef>
              <a:buClr>
                <a:schemeClr val="bg2"/>
              </a:buClr>
              <a:buSzPct val="150000"/>
              <a:buFont typeface="+mj-lt"/>
              <a:buAutoNum type="arabicPeriod"/>
              <a:tabLst/>
              <a:defRPr sz="1700"/>
            </a:lvl1pPr>
            <a:lvl2pPr marL="538123" indent="-182550">
              <a:spcBef>
                <a:spcPts val="400"/>
              </a:spcBef>
              <a:buFont typeface="+mj-lt"/>
              <a:buAutoNum type="arabicPeriod"/>
              <a:tabLst/>
              <a:defRPr sz="1200"/>
            </a:lvl2pPr>
            <a:lvl3pPr marL="538123" indent="0">
              <a:spcBef>
                <a:spcPts val="400"/>
              </a:spcBef>
              <a:buNone/>
              <a:tabLst/>
              <a:defRPr sz="1200"/>
            </a:lvl3pPr>
            <a:lvl4pPr marL="538123" indent="0">
              <a:spcBef>
                <a:spcPts val="400"/>
              </a:spcBef>
              <a:buNone/>
              <a:tabLst/>
              <a:defRPr sz="900" b="0" i="1">
                <a:latin typeface="Georgia" charset="0"/>
                <a:ea typeface="Georgia" charset="0"/>
                <a:cs typeface="Georgia" charset="0"/>
              </a:defRPr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9" name="Espace réservé pour une image  11"/>
          <p:cNvSpPr>
            <a:spLocks noGrp="1"/>
          </p:cNvSpPr>
          <p:nvPr>
            <p:ph type="pic" sz="quarter" idx="11" hasCustomPrompt="1"/>
          </p:nvPr>
        </p:nvSpPr>
        <p:spPr>
          <a:xfrm>
            <a:off x="629844" y="9655"/>
            <a:ext cx="998237" cy="651000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 dirty="0"/>
              <a:t>Logo client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77" y="1955499"/>
            <a:ext cx="7527375" cy="994172"/>
          </a:xfrm>
        </p:spPr>
        <p:txBody>
          <a:bodyPr anchor="ctr"/>
          <a:lstStyle>
            <a:lvl1pPr>
              <a:defRPr sz="3800"/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3292" y="1955500"/>
            <a:ext cx="767747" cy="983662"/>
          </a:xfrm>
        </p:spPr>
        <p:txBody>
          <a:bodyPr anchor="ctr"/>
          <a:lstStyle>
            <a:lvl1pPr marL="0" indent="0" algn="r">
              <a:buNone/>
              <a:defRPr sz="3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00</a:t>
            </a:r>
          </a:p>
        </p:txBody>
      </p:sp>
      <p:sp>
        <p:nvSpPr>
          <p:cNvPr id="10" name="Espace réservé pour une image  11"/>
          <p:cNvSpPr>
            <a:spLocks noGrp="1"/>
          </p:cNvSpPr>
          <p:nvPr>
            <p:ph type="pic" sz="quarter" idx="14" hasCustomPrompt="1"/>
          </p:nvPr>
        </p:nvSpPr>
        <p:spPr>
          <a:xfrm>
            <a:off x="629844" y="9655"/>
            <a:ext cx="998237" cy="651000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 dirty="0"/>
              <a:t>Logo client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6857" y="136023"/>
            <a:ext cx="6140855" cy="451946"/>
          </a:xfrm>
        </p:spPr>
        <p:txBody>
          <a:bodyPr/>
          <a:lstStyle>
            <a:lvl1pPr>
              <a:defRPr sz="23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7785" y="587969"/>
            <a:ext cx="6139927" cy="536394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7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Espace réservé pour une image  11"/>
          <p:cNvSpPr>
            <a:spLocks noGrp="1"/>
          </p:cNvSpPr>
          <p:nvPr>
            <p:ph type="pic" sz="quarter" idx="11" hasCustomPrompt="1"/>
          </p:nvPr>
        </p:nvSpPr>
        <p:spPr>
          <a:xfrm>
            <a:off x="629844" y="9655"/>
            <a:ext cx="998237" cy="651000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 dirty="0"/>
              <a:t>Logo client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29843" y="1395381"/>
            <a:ext cx="8153212" cy="2445896"/>
          </a:xfrm>
        </p:spPr>
        <p:txBody>
          <a:bodyPr numCol="1" spcCol="360000"/>
          <a:lstStyle>
            <a:lvl1pPr marL="139691" indent="-139691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400" b="1"/>
            </a:lvl1pPr>
            <a:lvl2pPr marL="228584" indent="-88894"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1000"/>
            </a:lvl2pPr>
            <a:lvl3pPr marL="317476" indent="-88894">
              <a:buClr>
                <a:schemeClr val="bg2"/>
              </a:buClr>
              <a:buFont typeface=".HelveticaNeueDeskInterface-Regular" charset="-120"/>
              <a:buChar char="-"/>
              <a:tabLst/>
              <a:defRPr sz="900">
                <a:solidFill>
                  <a:schemeClr val="bg2"/>
                </a:solidFill>
              </a:defRPr>
            </a:lvl3pPr>
            <a:lvl4pPr marL="400021" indent="-82545"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 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21080" cy="51435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fr-FR"/>
              <a:t>Visuel</a:t>
            </a:r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185" y="599087"/>
            <a:ext cx="3802355" cy="451946"/>
          </a:xfrm>
        </p:spPr>
        <p:txBody>
          <a:bodyPr/>
          <a:lstStyle>
            <a:lvl1pPr>
              <a:defRPr sz="22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3571" y="1008627"/>
            <a:ext cx="3801780" cy="536394"/>
          </a:xfrm>
        </p:spPr>
        <p:txBody>
          <a:bodyPr anchor="t"/>
          <a:lstStyle>
            <a:lvl1pPr marL="0" indent="0">
              <a:buNone/>
              <a:defRPr sz="1500" b="0"/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7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7"/>
          </p:nvPr>
        </p:nvSpPr>
        <p:spPr>
          <a:xfrm>
            <a:off x="4715787" y="1755415"/>
            <a:ext cx="3800756" cy="2445896"/>
          </a:xfrm>
        </p:spPr>
        <p:txBody>
          <a:bodyPr numCol="1" spcCol="360000"/>
          <a:lstStyle>
            <a:lvl1pPr marL="139691" indent="-139691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400" b="1"/>
            </a:lvl1pPr>
            <a:lvl2pPr marL="228584" indent="-88894"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1000"/>
            </a:lvl2pPr>
            <a:lvl3pPr marL="317476" indent="-88894">
              <a:buClr>
                <a:schemeClr val="bg2"/>
              </a:buClr>
              <a:buFont typeface=".HelveticaNeueDeskInterface-Regular" charset="-120"/>
              <a:buChar char="-"/>
              <a:tabLst/>
              <a:defRPr sz="900">
                <a:solidFill>
                  <a:schemeClr val="bg2"/>
                </a:solidFill>
              </a:defRPr>
            </a:lvl3pPr>
            <a:lvl4pPr marL="400021" indent="-82545"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415433"/>
            <a:ext cx="4026379" cy="2445896"/>
          </a:xfrm>
        </p:spPr>
        <p:txBody>
          <a:bodyPr numCol="1" spcCol="360000"/>
          <a:lstStyle>
            <a:lvl1pPr marL="139691" indent="-139691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400" b="1"/>
            </a:lvl1pPr>
            <a:lvl2pPr marL="228584" indent="-88894"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1000"/>
            </a:lvl2pPr>
            <a:lvl3pPr marL="317476" indent="-88894">
              <a:buClr>
                <a:schemeClr val="bg2"/>
              </a:buClr>
              <a:buFont typeface=".HelveticaNeueDeskInterface-Regular" charset="-120"/>
              <a:buChar char="-"/>
              <a:tabLst/>
              <a:defRPr sz="900">
                <a:solidFill>
                  <a:schemeClr val="bg2"/>
                </a:solidFill>
              </a:defRPr>
            </a:lvl3pPr>
            <a:lvl4pPr marL="400021" indent="-82545"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4" name="Espace réservé pour une image  11"/>
          <p:cNvSpPr>
            <a:spLocks noGrp="1"/>
          </p:cNvSpPr>
          <p:nvPr>
            <p:ph type="pic" sz="quarter" idx="11" hasCustomPrompt="1"/>
          </p:nvPr>
        </p:nvSpPr>
        <p:spPr>
          <a:xfrm>
            <a:off x="629844" y="9655"/>
            <a:ext cx="998237" cy="651000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 dirty="0"/>
              <a:t>Logo client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3E5ADF-B2DD-497D-835D-62CD443E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57" y="136023"/>
            <a:ext cx="6140855" cy="451946"/>
          </a:xfrm>
        </p:spPr>
        <p:txBody>
          <a:bodyPr/>
          <a:lstStyle>
            <a:lvl1pPr>
              <a:defRPr sz="23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DEB27B3-7E11-44A9-8866-B91B392A1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7785" y="587969"/>
            <a:ext cx="6139927" cy="536394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7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4FEC442-1B93-40BD-833F-A557D240F07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843269" y="1412618"/>
            <a:ext cx="4026379" cy="2445896"/>
          </a:xfrm>
        </p:spPr>
        <p:txBody>
          <a:bodyPr numCol="1" spcCol="360000"/>
          <a:lstStyle>
            <a:lvl1pPr marL="139691" indent="-139691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400" b="1"/>
            </a:lvl1pPr>
            <a:lvl2pPr marL="228584" indent="-88894"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1000"/>
            </a:lvl2pPr>
            <a:lvl3pPr marL="317476" indent="-88894">
              <a:buClr>
                <a:schemeClr val="bg2"/>
              </a:buClr>
              <a:buFont typeface=".HelveticaNeueDeskInterface-Regular" charset="-120"/>
              <a:buChar char="-"/>
              <a:tabLst/>
              <a:defRPr sz="900">
                <a:solidFill>
                  <a:schemeClr val="bg2"/>
                </a:solidFill>
              </a:defRPr>
            </a:lvl3pPr>
            <a:lvl4pPr marL="400021" indent="-82545"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 rot="5400000">
            <a:off x="431481" y="2894592"/>
            <a:ext cx="3530135" cy="268197"/>
          </a:xfrm>
          <a:prstGeom prst="rect">
            <a:avLst/>
          </a:prstGeom>
          <a:gradFill flip="none" rotWithShape="1">
            <a:gsLst>
              <a:gs pos="49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1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1"/>
          </a:p>
        </p:txBody>
      </p:sp>
      <p:sp>
        <p:nvSpPr>
          <p:cNvPr id="17" name="Rectangle 16"/>
          <p:cNvSpPr/>
          <p:nvPr userDrawn="1"/>
        </p:nvSpPr>
        <p:spPr>
          <a:xfrm rot="5400000">
            <a:off x="2445205" y="2894592"/>
            <a:ext cx="3530135" cy="268197"/>
          </a:xfrm>
          <a:prstGeom prst="rect">
            <a:avLst/>
          </a:prstGeom>
          <a:gradFill flip="none" rotWithShape="1">
            <a:gsLst>
              <a:gs pos="49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1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1245962"/>
            <a:ext cx="1332632" cy="3547801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4" name="Espace réservé pour une image  11"/>
          <p:cNvSpPr>
            <a:spLocks noGrp="1"/>
          </p:cNvSpPr>
          <p:nvPr>
            <p:ph type="pic" sz="quarter" idx="11" hasCustomPrompt="1"/>
          </p:nvPr>
        </p:nvSpPr>
        <p:spPr>
          <a:xfrm>
            <a:off x="470789" y="182844"/>
            <a:ext cx="732375" cy="551082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fr-FR" dirty="0"/>
              <a:t>Logo client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7"/>
          </p:nvPr>
        </p:nvSpPr>
        <p:spPr>
          <a:xfrm>
            <a:off x="4117576" y="1245957"/>
            <a:ext cx="4396749" cy="714924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8"/>
          </p:nvPr>
        </p:nvSpPr>
        <p:spPr>
          <a:xfrm>
            <a:off x="2091825" y="1245957"/>
            <a:ext cx="1889867" cy="714924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720671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763532" indent="-52384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>
                <a:solidFill>
                  <a:schemeClr val="tx1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2" name="Espace réservé pour une image  11"/>
          <p:cNvSpPr>
            <a:spLocks noGrp="1"/>
          </p:cNvSpPr>
          <p:nvPr>
            <p:ph type="pic" sz="quarter" idx="19" hasCustomPrompt="1"/>
          </p:nvPr>
        </p:nvSpPr>
        <p:spPr>
          <a:xfrm>
            <a:off x="1262683" y="187818"/>
            <a:ext cx="423292" cy="546108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fr-FR"/>
              <a:t>Photo identité</a:t>
            </a:r>
            <a:endParaRPr lang="fr-FR" dirty="0"/>
          </a:p>
        </p:txBody>
      </p:sp>
      <p:sp>
        <p:nvSpPr>
          <p:cNvPr id="22" name="Content Placeholder 3"/>
          <p:cNvSpPr>
            <a:spLocks noGrp="1"/>
          </p:cNvSpPr>
          <p:nvPr>
            <p:ph sz="half" idx="22"/>
          </p:nvPr>
        </p:nvSpPr>
        <p:spPr>
          <a:xfrm>
            <a:off x="4117576" y="2621339"/>
            <a:ext cx="4396749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3"/>
          </p:nvPr>
        </p:nvSpPr>
        <p:spPr>
          <a:xfrm>
            <a:off x="2091825" y="2621339"/>
            <a:ext cx="1889867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763532" indent="-52384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>
                <a:solidFill>
                  <a:schemeClr val="tx1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24"/>
          </p:nvPr>
        </p:nvSpPr>
        <p:spPr>
          <a:xfrm>
            <a:off x="4117576" y="3163929"/>
            <a:ext cx="4396749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Content Placeholder 3"/>
          <p:cNvSpPr>
            <a:spLocks noGrp="1"/>
          </p:cNvSpPr>
          <p:nvPr>
            <p:ph sz="half" idx="25"/>
          </p:nvPr>
        </p:nvSpPr>
        <p:spPr>
          <a:xfrm>
            <a:off x="2091825" y="3163929"/>
            <a:ext cx="1889867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763532" indent="-52384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>
                <a:solidFill>
                  <a:schemeClr val="tx1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6" name="Content Placeholder 3"/>
          <p:cNvSpPr>
            <a:spLocks noGrp="1"/>
          </p:cNvSpPr>
          <p:nvPr>
            <p:ph sz="half" idx="26"/>
          </p:nvPr>
        </p:nvSpPr>
        <p:spPr>
          <a:xfrm>
            <a:off x="4117576" y="3722063"/>
            <a:ext cx="4396749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27"/>
          </p:nvPr>
        </p:nvSpPr>
        <p:spPr>
          <a:xfrm>
            <a:off x="2091825" y="3722063"/>
            <a:ext cx="1889867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763532" indent="-52384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>
                <a:solidFill>
                  <a:schemeClr val="tx1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8" name="Content Placeholder 3"/>
          <p:cNvSpPr>
            <a:spLocks noGrp="1"/>
          </p:cNvSpPr>
          <p:nvPr>
            <p:ph sz="half" idx="28"/>
          </p:nvPr>
        </p:nvSpPr>
        <p:spPr>
          <a:xfrm>
            <a:off x="4117576" y="4274357"/>
            <a:ext cx="4396749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317476" indent="-88894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29"/>
          </p:nvPr>
        </p:nvSpPr>
        <p:spPr>
          <a:xfrm>
            <a:off x="2091825" y="4274357"/>
            <a:ext cx="1889867" cy="434302"/>
          </a:xfrm>
        </p:spPr>
        <p:txBody>
          <a:bodyPr numCol="1" spcCol="360000" anchor="ctr"/>
          <a:lstStyle>
            <a:lvl1pPr marL="90482" indent="-90482"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763532" indent="-52384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>
                <a:solidFill>
                  <a:schemeClr val="tx1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E2F608D-79F8-4B30-9239-70FAD982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57" y="136023"/>
            <a:ext cx="6140855" cy="451946"/>
          </a:xfrm>
        </p:spPr>
        <p:txBody>
          <a:bodyPr/>
          <a:lstStyle>
            <a:lvl1pPr>
              <a:defRPr sz="23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C07F560C-0ABF-4D8B-B53E-0E6708A5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7785" y="587969"/>
            <a:ext cx="6139927" cy="536394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7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 rot="5400000">
            <a:off x="4467162" y="2894592"/>
            <a:ext cx="3530135" cy="268197"/>
          </a:xfrm>
          <a:prstGeom prst="rect">
            <a:avLst/>
          </a:prstGeom>
          <a:gradFill flip="none" rotWithShape="1">
            <a:gsLst>
              <a:gs pos="49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1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1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228" y="71918"/>
            <a:ext cx="948160" cy="472612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7"/>
          </p:nvPr>
        </p:nvSpPr>
        <p:spPr>
          <a:xfrm>
            <a:off x="6139625" y="1245964"/>
            <a:ext cx="2381891" cy="1725831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1715777" y="2894592"/>
            <a:ext cx="3530135" cy="268197"/>
          </a:xfrm>
          <a:prstGeom prst="rect">
            <a:avLst/>
          </a:prstGeom>
          <a:gradFill flip="none" rotWithShape="1">
            <a:gsLst>
              <a:gs pos="49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1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1"/>
          </a:p>
        </p:txBody>
      </p:sp>
      <p:sp>
        <p:nvSpPr>
          <p:cNvPr id="19" name="Content Placeholder 3"/>
          <p:cNvSpPr>
            <a:spLocks noGrp="1"/>
          </p:cNvSpPr>
          <p:nvPr>
            <p:ph sz="half" idx="18"/>
          </p:nvPr>
        </p:nvSpPr>
        <p:spPr>
          <a:xfrm>
            <a:off x="3388241" y="1245964"/>
            <a:ext cx="2381891" cy="1725831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 rot="5400000">
            <a:off x="-1042628" y="2894592"/>
            <a:ext cx="3530135" cy="268197"/>
          </a:xfrm>
          <a:prstGeom prst="rect">
            <a:avLst/>
          </a:prstGeom>
          <a:gradFill flip="none" rotWithShape="1">
            <a:gsLst>
              <a:gs pos="49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1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1"/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629841" y="1245964"/>
            <a:ext cx="2381891" cy="1725831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half" idx="20"/>
          </p:nvPr>
        </p:nvSpPr>
        <p:spPr>
          <a:xfrm>
            <a:off x="6139625" y="3098808"/>
            <a:ext cx="2381891" cy="1698739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half" idx="21"/>
          </p:nvPr>
        </p:nvSpPr>
        <p:spPr>
          <a:xfrm>
            <a:off x="3388241" y="3098808"/>
            <a:ext cx="2381891" cy="1698739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23" name="Content Placeholder 3"/>
          <p:cNvSpPr>
            <a:spLocks noGrp="1"/>
          </p:cNvSpPr>
          <p:nvPr>
            <p:ph sz="half" idx="22"/>
          </p:nvPr>
        </p:nvSpPr>
        <p:spPr>
          <a:xfrm>
            <a:off x="629841" y="3098808"/>
            <a:ext cx="2381891" cy="1698739"/>
          </a:xfrm>
        </p:spPr>
        <p:txBody>
          <a:bodyPr numCol="1" spcCol="360000"/>
          <a:lstStyle>
            <a:lvl1pPr marL="90482" indent="-90482">
              <a:buClr>
                <a:schemeClr val="bg2"/>
              </a:buClr>
              <a:buSzPct val="110000"/>
              <a:buFont typeface="Arial" charset="0"/>
              <a:buChar char="•"/>
              <a:tabLst/>
              <a:defRPr sz="1100" b="1"/>
            </a:lvl1pPr>
            <a:lvl2pPr marL="136515" indent="-46038"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/>
            </a:lvl2pPr>
            <a:lvl3pPr marL="182550" indent="-46038"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>
                <a:solidFill>
                  <a:schemeClr val="bg2"/>
                </a:solidFill>
              </a:defRPr>
            </a:lvl3pPr>
            <a:lvl4pPr marL="400021" indent="-82545">
              <a:spcBef>
                <a:spcPts val="0"/>
              </a:spcBef>
              <a:buFont typeface="Courier New" charset="0"/>
              <a:buChar char="o"/>
              <a:tabLst/>
              <a:defRPr sz="800" b="0" i="1">
                <a:latin typeface="+mn-lt"/>
                <a:ea typeface="Georgia" charset="0"/>
                <a:cs typeface="Georgia" charset="0"/>
              </a:defRPr>
            </a:lvl4pPr>
            <a:lvl5pPr marL="493677" indent="-88894">
              <a:spcBef>
                <a:spcPts val="0"/>
              </a:spcBef>
              <a:buFont typeface="Arial" charset="0"/>
              <a:buChar char="•"/>
              <a:tabLst/>
              <a:defRPr sz="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A7423D6-0526-4E5D-8F18-F1A01CF7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57" y="136023"/>
            <a:ext cx="6140855" cy="451946"/>
          </a:xfrm>
        </p:spPr>
        <p:txBody>
          <a:bodyPr/>
          <a:lstStyle>
            <a:lvl1pPr>
              <a:defRPr sz="23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12E078A-589D-473A-8FE0-F8007967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7785" y="587969"/>
            <a:ext cx="6139927" cy="536394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7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7" name="Espace réservé pour une image  11">
            <a:extLst>
              <a:ext uri="{FF2B5EF4-FFF2-40B4-BE49-F238E27FC236}">
                <a16:creationId xmlns:a16="http://schemas.microsoft.com/office/drawing/2014/main" id="{FD352230-0868-4C35-8FD5-F6E7E0C8D4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0789" y="182844"/>
            <a:ext cx="732375" cy="551082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fr-FR" dirty="0"/>
              <a:t>Logo client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r Cou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8017" y="1666642"/>
            <a:ext cx="3199091" cy="19214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98793"/>
            <a:ext cx="2057400" cy="2738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31F38F9-4A48-744F-B2BF-84827FDF20CD}" type="datetime4">
              <a:rPr lang="fr-FR" smtClean="0"/>
              <a:pPr/>
              <a:t>16 janvier 2018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4"/>
          </p:nvPr>
        </p:nvSpPr>
        <p:spPr>
          <a:xfrm>
            <a:off x="8343100" y="4798801"/>
            <a:ext cx="622080" cy="2746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468237A2-C22F-9545-8FB5-45807FF596D7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316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4" r:id="rId3"/>
    <p:sldLayoutId id="2147483669" r:id="rId4"/>
    <p:sldLayoutId id="2147483667" r:id="rId5"/>
    <p:sldLayoutId id="2147483668" r:id="rId6"/>
    <p:sldLayoutId id="2147483671" r:id="rId7"/>
    <p:sldLayoutId id="2147483672" r:id="rId8"/>
    <p:sldLayoutId id="2147483665" r:id="rId9"/>
  </p:sldLayoutIdLst>
  <p:hf hdr="0" ftr="0"/>
  <p:txStyles>
    <p:titleStyle>
      <a:lvl1pPr algn="l" defTabSz="685750" rtl="0" eaLnBrk="1" latinLnBrk="0" hangingPunct="1">
        <a:lnSpc>
          <a:spcPct val="10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50" rtl="0" eaLnBrk="1" latinLnBrk="0" hangingPunct="1">
        <a:lnSpc>
          <a:spcPct val="10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4" indent="-171438" algn="l" defTabSz="68575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7" indent="-171438" algn="l" defTabSz="68575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1" indent="-171438" algn="l" defTabSz="68575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5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10" indent="-171438" algn="l" defTabSz="6857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3" indent="-171438" algn="l" defTabSz="6857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4" indent="-171438" algn="l" defTabSz="6857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5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2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7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8"/>
          <p:cNvSpPr>
            <a:spLocks noGrp="1"/>
          </p:cNvSpPr>
          <p:nvPr>
            <p:ph sz="half" idx="2"/>
          </p:nvPr>
        </p:nvSpPr>
        <p:spPr>
          <a:xfrm>
            <a:off x="629843" y="1245962"/>
            <a:ext cx="1332632" cy="3547801"/>
          </a:xfrm>
        </p:spPr>
        <p:txBody>
          <a:bodyPr/>
          <a:lstStyle/>
          <a:p>
            <a:r>
              <a:rPr lang="fr-FR" dirty="0"/>
              <a:t>Compétences</a:t>
            </a:r>
          </a:p>
          <a:p>
            <a:pPr lvl="1"/>
            <a:r>
              <a:rPr lang="fr-FR" dirty="0"/>
              <a:t>Architecture d’entreprise</a:t>
            </a:r>
          </a:p>
          <a:p>
            <a:pPr lvl="1"/>
            <a:r>
              <a:rPr lang="fr-FR" dirty="0"/>
              <a:t>Etude d’opportunité</a:t>
            </a:r>
          </a:p>
          <a:p>
            <a:pPr lvl="1"/>
            <a:r>
              <a:rPr lang="fr-FR" dirty="0"/>
              <a:t>Prototypage</a:t>
            </a:r>
          </a:p>
          <a:p>
            <a:pPr lvl="1"/>
            <a:r>
              <a:rPr lang="fr-FR" dirty="0"/>
              <a:t>Méthodes agiles</a:t>
            </a:r>
          </a:p>
          <a:p>
            <a:pPr lvl="1"/>
            <a:r>
              <a:rPr lang="fr-FR" dirty="0"/>
              <a:t>Développeur Full Stack (</a:t>
            </a:r>
            <a:r>
              <a:rPr lang="fr-FR" dirty="0" err="1"/>
              <a:t>RoR</a:t>
            </a:r>
            <a:r>
              <a:rPr lang="fr-FR" dirty="0"/>
              <a:t>)</a:t>
            </a:r>
          </a:p>
          <a:p>
            <a:pPr marL="90477" lvl="1" indent="0">
              <a:buNone/>
            </a:pPr>
            <a:endParaRPr lang="fr-FR" dirty="0"/>
          </a:p>
          <a:p>
            <a:r>
              <a:rPr lang="fr-FR" dirty="0"/>
              <a:t>Carrière</a:t>
            </a:r>
          </a:p>
          <a:p>
            <a:pPr lvl="1"/>
            <a:r>
              <a:rPr lang="fr-FR" dirty="0"/>
              <a:t>Weave – Consultant</a:t>
            </a:r>
          </a:p>
          <a:p>
            <a:pPr lvl="1"/>
            <a:r>
              <a:rPr lang="fr-FR" dirty="0"/>
              <a:t>42US – Assistant responsable pédagogique lors du lancement du campus</a:t>
            </a:r>
          </a:p>
          <a:p>
            <a:pPr lvl="1"/>
            <a:r>
              <a:rPr lang="fr-FR" dirty="0"/>
              <a:t>Entreprenariat - Lancement d’une marketplace sur la location d’instrument de musique</a:t>
            </a:r>
          </a:p>
          <a:p>
            <a:pPr lvl="1"/>
            <a:endParaRPr lang="fr-FR" dirty="0"/>
          </a:p>
          <a:p>
            <a:r>
              <a:rPr lang="fr-FR" dirty="0"/>
              <a:t>Formation</a:t>
            </a:r>
          </a:p>
          <a:p>
            <a:pPr lvl="1"/>
            <a:r>
              <a:rPr lang="fr-FR" dirty="0"/>
              <a:t>HEC – Certification master leadership</a:t>
            </a:r>
          </a:p>
          <a:p>
            <a:pPr lvl="1"/>
            <a:r>
              <a:rPr lang="fr-FR" dirty="0"/>
              <a:t>Ecole 42 – Certification</a:t>
            </a:r>
          </a:p>
          <a:p>
            <a:pPr lvl="1"/>
            <a:r>
              <a:rPr lang="fr-FR" dirty="0"/>
              <a:t>ESCP EUROPE – Option Entreprenariat 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8237A2-C22F-9545-8FB5-45807FF596D7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17"/>
          </p:nvPr>
        </p:nvSpPr>
        <p:spPr>
          <a:xfrm>
            <a:off x="4117576" y="1245957"/>
            <a:ext cx="4396749" cy="1118732"/>
          </a:xfrm>
        </p:spPr>
        <p:txBody>
          <a:bodyPr/>
          <a:lstStyle/>
          <a:p>
            <a:r>
              <a:rPr lang="fr-FR" dirty="0"/>
              <a:t>Contributions</a:t>
            </a:r>
          </a:p>
          <a:p>
            <a:pPr marL="90477" lvl="1" indent="0">
              <a:buNone/>
            </a:pPr>
            <a:endParaRPr lang="fr-FR" dirty="0"/>
          </a:p>
          <a:p>
            <a:pPr lvl="1"/>
            <a:r>
              <a:rPr lang="fr-FR" dirty="0"/>
              <a:t>Réalisation d’une application web responsive reprenant les fonctionnalités de base de la cible</a:t>
            </a:r>
          </a:p>
          <a:p>
            <a:pPr lvl="1"/>
            <a:r>
              <a:rPr lang="fr-FR" dirty="0"/>
              <a:t>Validation des cas d’usages identifiés par la conception et la réalisation d’une application fictive. </a:t>
            </a:r>
          </a:p>
          <a:p>
            <a:pPr lvl="1"/>
            <a:r>
              <a:rPr lang="fr-FR" dirty="0"/>
              <a:t>Communication sur le prototype en développement au niveau directionnel</a:t>
            </a:r>
          </a:p>
          <a:p>
            <a:pPr lvl="1"/>
            <a:r>
              <a:rPr lang="fr-FR" dirty="0"/>
              <a:t>Création d’une vidéo explicative afin de fédérer l’équipe projet autour d’une solution identifiée</a:t>
            </a:r>
          </a:p>
          <a:p>
            <a:pPr lvl="1"/>
            <a:r>
              <a:rPr lang="fr-FR" dirty="0"/>
              <a:t>Approche par les usages : réalisation d’ateliers pour identifier les besoins et optimiser les parcours utilisateurs</a:t>
            </a:r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18"/>
          </p:nvPr>
        </p:nvSpPr>
        <p:spPr>
          <a:xfrm>
            <a:off x="2091825" y="1245957"/>
            <a:ext cx="1889867" cy="1325794"/>
          </a:xfrm>
        </p:spPr>
        <p:txBody>
          <a:bodyPr/>
          <a:lstStyle/>
          <a:p>
            <a:r>
              <a:rPr lang="fr-FR" dirty="0"/>
              <a:t>Références</a:t>
            </a:r>
            <a:endParaRPr lang="fr-FR" sz="12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Prototypage d’un objet connecté</a:t>
            </a:r>
          </a:p>
        </p:txBody>
      </p:sp>
      <p:sp>
        <p:nvSpPr>
          <p:cNvPr id="41" name="Espace réservé du contenu 40"/>
          <p:cNvSpPr>
            <a:spLocks noGrp="1"/>
          </p:cNvSpPr>
          <p:nvPr>
            <p:ph sz="half" idx="22"/>
          </p:nvPr>
        </p:nvSpPr>
        <p:spPr>
          <a:xfrm>
            <a:off x="4117580" y="2406896"/>
            <a:ext cx="4396749" cy="996940"/>
          </a:xfrm>
        </p:spPr>
        <p:txBody>
          <a:bodyPr/>
          <a:lstStyle/>
          <a:p>
            <a:pPr lvl="1"/>
            <a:r>
              <a:rPr lang="fr-FR" dirty="0"/>
              <a:t>Réalisation d’un dossier d’architecture nécessaire à la mise en place d’un MVP</a:t>
            </a:r>
          </a:p>
          <a:p>
            <a:pPr lvl="1"/>
            <a:r>
              <a:rPr lang="fr-FR" dirty="0"/>
              <a:t>Etude d’accostage d’une offre concernant la mise en place d’une carte de fidélité associée à un compte professionnel</a:t>
            </a:r>
          </a:p>
          <a:p>
            <a:pPr lvl="1"/>
            <a:r>
              <a:rPr lang="fr-FR" dirty="0"/>
              <a:t>Etude de positionnement des applications du SI de la BSCC, sur un socle porteur fonctionnel correspondant</a:t>
            </a:r>
          </a:p>
          <a:p>
            <a:pPr lvl="1"/>
            <a:r>
              <a:rPr lang="fr-FR" dirty="0"/>
              <a:t>Accompagnement en architecture d’entreprise pour deux projets liés à la traçabilité de bout en bout des objets La Poste et la distribution des objets PPI (colis importés de l’étranger). </a:t>
            </a:r>
          </a:p>
          <a:p>
            <a:pPr lvl="1"/>
            <a:r>
              <a:rPr lang="fr-FR" dirty="0"/>
              <a:t>Mise en place d’une architecture réactive basé sur la technologie Kafka. </a:t>
            </a:r>
          </a:p>
        </p:txBody>
      </p:sp>
      <p:sp>
        <p:nvSpPr>
          <p:cNvPr id="49" name="Espace réservé du contenu 48"/>
          <p:cNvSpPr>
            <a:spLocks noGrp="1"/>
          </p:cNvSpPr>
          <p:nvPr>
            <p:ph sz="half" idx="23"/>
          </p:nvPr>
        </p:nvSpPr>
        <p:spPr>
          <a:xfrm>
            <a:off x="2117200" y="2616607"/>
            <a:ext cx="1889867" cy="536395"/>
          </a:xfrm>
        </p:spPr>
        <p:txBody>
          <a:bodyPr/>
          <a:lstStyle/>
          <a:p>
            <a:pPr lvl="1"/>
            <a:r>
              <a:rPr lang="fr-FR" dirty="0"/>
              <a:t>Mission d’architecture d’entreprise</a:t>
            </a:r>
          </a:p>
        </p:txBody>
      </p:sp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82611447-8EC4-4057-BDD5-48A48EC0CC1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39" r="3039"/>
          <a:stretch>
            <a:fillRect/>
          </a:stretch>
        </p:blipFill>
        <p:spPr>
          <a:xfrm>
            <a:off x="2220022" y="1628561"/>
            <a:ext cx="523694" cy="394058"/>
          </a:xfrm>
        </p:spPr>
      </p:pic>
      <p:sp>
        <p:nvSpPr>
          <p:cNvPr id="39" name="Titre 8">
            <a:extLst>
              <a:ext uri="{FF2B5EF4-FFF2-40B4-BE49-F238E27FC236}">
                <a16:creationId xmlns:a16="http://schemas.microsoft.com/office/drawing/2014/main" id="{0DC267D9-9E08-43A8-B486-AEDCBF0F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58" y="136027"/>
            <a:ext cx="6140855" cy="451947"/>
          </a:xfrm>
        </p:spPr>
        <p:txBody>
          <a:bodyPr/>
          <a:lstStyle/>
          <a:p>
            <a:r>
              <a:rPr lang="fr-FR" dirty="0"/>
              <a:t>Dispositif d’intervention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7ADFE663-2250-4A45-90B6-F5A0E5C7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7786" y="587971"/>
            <a:ext cx="6139927" cy="536395"/>
          </a:xfrm>
        </p:spPr>
        <p:txBody>
          <a:bodyPr/>
          <a:lstStyle/>
          <a:p>
            <a:r>
              <a:rPr lang="fr-FR" dirty="0"/>
              <a:t>Equipe proposée - CV Henri Dumas // Consultant </a:t>
            </a:r>
          </a:p>
        </p:txBody>
      </p:sp>
      <p:pic>
        <p:nvPicPr>
          <p:cNvPr id="32" name="Picture 2" descr="Afficher l'image d'origine">
            <a:extLst>
              <a:ext uri="{FF2B5EF4-FFF2-40B4-BE49-F238E27FC236}">
                <a16:creationId xmlns:a16="http://schemas.microsoft.com/office/drawing/2014/main" id="{06B7C4C8-6737-4D41-A0BD-3144B62AE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022" y="2666721"/>
            <a:ext cx="432056" cy="39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42586D2-6F4B-45F9-BC7B-038972F7B858}"/>
              </a:ext>
            </a:extLst>
          </p:cNvPr>
          <p:cNvCxnSpPr/>
          <p:nvPr/>
        </p:nvCxnSpPr>
        <p:spPr>
          <a:xfrm>
            <a:off x="2152243" y="3403836"/>
            <a:ext cx="642250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609C2B7B-15D2-49FC-8AAD-E9D5489EF2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989" t="1" r="33747" b="65684"/>
          <a:stretch/>
        </p:blipFill>
        <p:spPr>
          <a:xfrm>
            <a:off x="1333522" y="235324"/>
            <a:ext cx="421366" cy="53639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19F8ED75-5205-440A-B00D-15B093E53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698" y="4144539"/>
            <a:ext cx="500704" cy="50070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12E8628-9556-4118-9022-0B2E52C1AD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243" y="3501799"/>
            <a:ext cx="627379" cy="350165"/>
          </a:xfrm>
          <a:prstGeom prst="rect">
            <a:avLst/>
          </a:prstGeom>
        </p:spPr>
      </p:pic>
      <p:sp>
        <p:nvSpPr>
          <p:cNvPr id="43" name="Espace réservé du contenu 48">
            <a:extLst>
              <a:ext uri="{FF2B5EF4-FFF2-40B4-BE49-F238E27FC236}">
                <a16:creationId xmlns:a16="http://schemas.microsoft.com/office/drawing/2014/main" id="{9368141B-E522-465C-AF5E-DEC50CEFC14A}"/>
              </a:ext>
            </a:extLst>
          </p:cNvPr>
          <p:cNvSpPr txBox="1">
            <a:spLocks/>
          </p:cNvSpPr>
          <p:nvPr/>
        </p:nvSpPr>
        <p:spPr>
          <a:xfrm>
            <a:off x="2117200" y="3403836"/>
            <a:ext cx="1889867" cy="557987"/>
          </a:xfrm>
          <a:prstGeom prst="rect">
            <a:avLst/>
          </a:prstGeom>
        </p:spPr>
        <p:txBody>
          <a:bodyPr vert="horz" lIns="0" tIns="0" rIns="0" bIns="0" numCol="1" spcCol="360000" rtlCol="0" anchor="ctr">
            <a:noAutofit/>
          </a:bodyPr>
          <a:lstStyle>
            <a:lvl1pPr marL="90482" indent="-90482" algn="l" defTabSz="685750" rtl="0" eaLnBrk="1" latinLnBrk="0" hangingPunct="1">
              <a:lnSpc>
                <a:spcPct val="100000"/>
              </a:lnSpc>
              <a:spcBef>
                <a:spcPts val="751"/>
              </a:spcBef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532" indent="-52384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0021" indent="-82545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charset="0"/>
              <a:buChar char="o"/>
              <a:tabLst/>
              <a:defRPr sz="800" b="0" i="1" kern="12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4pPr>
            <a:lvl5pPr marL="493677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10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3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4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/>
              <a:t>Mise à jour de la cartographie du SI de AXA CORPORATE SOLUTION</a:t>
            </a:r>
          </a:p>
        </p:txBody>
      </p:sp>
      <p:sp>
        <p:nvSpPr>
          <p:cNvPr id="44" name="Espace réservé du contenu 48">
            <a:extLst>
              <a:ext uri="{FF2B5EF4-FFF2-40B4-BE49-F238E27FC236}">
                <a16:creationId xmlns:a16="http://schemas.microsoft.com/office/drawing/2014/main" id="{EE3FAF06-307F-4AFD-96D2-ECD76AE72380}"/>
              </a:ext>
            </a:extLst>
          </p:cNvPr>
          <p:cNvSpPr txBox="1">
            <a:spLocks/>
          </p:cNvSpPr>
          <p:nvPr/>
        </p:nvSpPr>
        <p:spPr>
          <a:xfrm>
            <a:off x="2152243" y="4102734"/>
            <a:ext cx="1889867" cy="557987"/>
          </a:xfrm>
          <a:prstGeom prst="rect">
            <a:avLst/>
          </a:prstGeom>
        </p:spPr>
        <p:txBody>
          <a:bodyPr vert="horz" lIns="0" tIns="0" rIns="0" bIns="0" numCol="1" spcCol="360000" rtlCol="0" anchor="ctr">
            <a:noAutofit/>
          </a:bodyPr>
          <a:lstStyle>
            <a:lvl1pPr marL="90482" indent="-90482" algn="l" defTabSz="685750" rtl="0" eaLnBrk="1" latinLnBrk="0" hangingPunct="1">
              <a:lnSpc>
                <a:spcPct val="100000"/>
              </a:lnSpc>
              <a:spcBef>
                <a:spcPts val="751"/>
              </a:spcBef>
              <a:buClr>
                <a:schemeClr val="bg1">
                  <a:lumMod val="65000"/>
                </a:schemeClr>
              </a:buClr>
              <a:buSzPct val="11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671" indent="-46038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3532" indent="-52384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0021" indent="-82545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charset="0"/>
              <a:buChar char="o"/>
              <a:tabLst/>
              <a:defRPr sz="800" b="0" i="1" kern="12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4pPr>
            <a:lvl5pPr marL="493677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10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3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4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/>
              <a:t>Ouverture d’un campus Ecole 42 à Fremont dans la  Silicon Valley</a:t>
            </a:r>
          </a:p>
        </p:txBody>
      </p:sp>
      <p:sp>
        <p:nvSpPr>
          <p:cNvPr id="45" name="Espace réservé du contenu 40">
            <a:extLst>
              <a:ext uri="{FF2B5EF4-FFF2-40B4-BE49-F238E27FC236}">
                <a16:creationId xmlns:a16="http://schemas.microsoft.com/office/drawing/2014/main" id="{ADE81BA8-F5B9-4421-9675-0613C6C932A3}"/>
              </a:ext>
            </a:extLst>
          </p:cNvPr>
          <p:cNvSpPr txBox="1">
            <a:spLocks/>
          </p:cNvSpPr>
          <p:nvPr/>
        </p:nvSpPr>
        <p:spPr>
          <a:xfrm>
            <a:off x="4103938" y="3403836"/>
            <a:ext cx="4396749" cy="662234"/>
          </a:xfrm>
          <a:prstGeom prst="rect">
            <a:avLst/>
          </a:prstGeom>
        </p:spPr>
        <p:txBody>
          <a:bodyPr vert="horz" lIns="0" tIns="0" rIns="0" bIns="0" numCol="1" spcCol="360000" rtlCol="0" anchor="ctr">
            <a:noAutofit/>
          </a:bodyPr>
          <a:lstStyle>
            <a:lvl1pPr marL="90482" indent="-90482" algn="l" defTabSz="685750" rtl="0" eaLnBrk="1" latinLnBrk="0" hangingPunct="1">
              <a:lnSpc>
                <a:spcPct val="100000"/>
              </a:lnSpc>
              <a:spcBef>
                <a:spcPts val="751"/>
              </a:spcBef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7476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0021" indent="-82545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charset="0"/>
              <a:buChar char="o"/>
              <a:tabLst/>
              <a:defRPr sz="800" b="0" i="1" kern="12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4pPr>
            <a:lvl5pPr marL="493677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10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3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4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/>
              <a:t>Elaboration d’une cartographie du SI cible ainsi que plusieurs vues intermédiaires</a:t>
            </a:r>
          </a:p>
          <a:p>
            <a:pPr lvl="1"/>
            <a:r>
              <a:rPr lang="fr-FR" dirty="0"/>
              <a:t>Elaboration et conduite d’atelier conduisant à la réalisation du livrable</a:t>
            </a:r>
          </a:p>
          <a:p>
            <a:pPr lvl="1"/>
            <a:endParaRPr lang="fr-FR" dirty="0"/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BC5797C1-77FA-40B1-AEC3-70E673CF1610}"/>
              </a:ext>
            </a:extLst>
          </p:cNvPr>
          <p:cNvCxnSpPr/>
          <p:nvPr/>
        </p:nvCxnSpPr>
        <p:spPr>
          <a:xfrm>
            <a:off x="2152242" y="2401352"/>
            <a:ext cx="642250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3E2D7F17-5F8C-4EB3-814B-6335078B15AC}"/>
              </a:ext>
            </a:extLst>
          </p:cNvPr>
          <p:cNvCxnSpPr/>
          <p:nvPr/>
        </p:nvCxnSpPr>
        <p:spPr>
          <a:xfrm>
            <a:off x="2152241" y="4066070"/>
            <a:ext cx="642250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space réservé du contenu 40">
            <a:extLst>
              <a:ext uri="{FF2B5EF4-FFF2-40B4-BE49-F238E27FC236}">
                <a16:creationId xmlns:a16="http://schemas.microsoft.com/office/drawing/2014/main" id="{0EA6C588-52CB-433A-8530-2D016E325928}"/>
              </a:ext>
            </a:extLst>
          </p:cNvPr>
          <p:cNvSpPr txBox="1">
            <a:spLocks/>
          </p:cNvSpPr>
          <p:nvPr/>
        </p:nvSpPr>
        <p:spPr>
          <a:xfrm>
            <a:off x="4117580" y="4066070"/>
            <a:ext cx="4396749" cy="897072"/>
          </a:xfrm>
          <a:prstGeom prst="rect">
            <a:avLst/>
          </a:prstGeom>
        </p:spPr>
        <p:txBody>
          <a:bodyPr vert="horz" lIns="0" tIns="0" rIns="0" bIns="0" numCol="1" spcCol="360000" rtlCol="0" anchor="ctr">
            <a:noAutofit/>
          </a:bodyPr>
          <a:lstStyle>
            <a:lvl1pPr marL="90482" indent="-90482" algn="l" defTabSz="685750" rtl="0" eaLnBrk="1" latinLnBrk="0" hangingPunct="1">
              <a:lnSpc>
                <a:spcPct val="100000"/>
              </a:lnSpc>
              <a:spcBef>
                <a:spcPts val="751"/>
              </a:spcBef>
              <a:buClr>
                <a:schemeClr val="bg1">
                  <a:lumMod val="65000"/>
                </a:schemeClr>
              </a:buClr>
              <a:buSzPct val="100000"/>
              <a:buFont typeface="Arial" charset="0"/>
              <a:buChar char="•"/>
              <a:tabLst/>
              <a:defRPr lang="fr-FR" sz="7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6515" indent="-46038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charset="0"/>
              <a:buChar char="•"/>
              <a:tabLst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7476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.HelveticaNeueDeskInterface-Regular" charset="-120"/>
              <a:buChar char="-"/>
              <a:tabLst/>
              <a:defRPr sz="7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0021" indent="-82545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charset="0"/>
              <a:buChar char="o"/>
              <a:tabLst/>
              <a:defRPr sz="800" b="0" i="1" kern="12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4pPr>
            <a:lvl5pPr marL="493677" indent="-88894" algn="l" defTabSz="68575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tabLst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10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3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4" indent="-171438" algn="l" defTabSz="68575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/>
              <a:t>Développement des partenariats avec les entreprises et les écoles avoisinantes </a:t>
            </a:r>
          </a:p>
          <a:p>
            <a:pPr lvl="1"/>
            <a:r>
              <a:rPr lang="fr-FR" dirty="0"/>
              <a:t>Référent lors des épreuves d’admission de la première promotion de 42us </a:t>
            </a:r>
          </a:p>
          <a:p>
            <a:pPr lvl="1"/>
            <a:r>
              <a:rPr lang="fr-FR" dirty="0"/>
              <a:t>Développement d’outils permettant la bonne administration de l’école </a:t>
            </a:r>
          </a:p>
          <a:p>
            <a:pPr lvl="1"/>
            <a:r>
              <a:rPr lang="fr-FR" dirty="0"/>
              <a:t>Organisateur du tout premier Hackathon à 42 us</a:t>
            </a:r>
          </a:p>
          <a:p>
            <a:pPr lvl="1"/>
            <a:r>
              <a:rPr lang="fr-FR" dirty="0"/>
              <a:t>Création des communautés et développements de toutes les activités extra-scolaires 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281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Personnalisée 151">
      <a:dk1>
        <a:srgbClr val="000000"/>
      </a:dk1>
      <a:lt1>
        <a:srgbClr val="FFFFFF"/>
      </a:lt1>
      <a:dk2>
        <a:srgbClr val="FF0073"/>
      </a:dk2>
      <a:lt2>
        <a:srgbClr val="00D0FF"/>
      </a:lt2>
      <a:accent1>
        <a:srgbClr val="50FA46"/>
      </a:accent1>
      <a:accent2>
        <a:srgbClr val="6600C9"/>
      </a:accent2>
      <a:accent3>
        <a:srgbClr val="3C40E0"/>
      </a:accent3>
      <a:accent4>
        <a:srgbClr val="FFE60A"/>
      </a:accent4>
      <a:accent5>
        <a:srgbClr val="000000"/>
      </a:accent5>
      <a:accent6>
        <a:srgbClr val="FFFFFF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136A30B133FB448E0425853531AD07" ma:contentTypeVersion="4" ma:contentTypeDescription="Crée un document." ma:contentTypeScope="" ma:versionID="535add8dee7f5b48b13d99af6890314e">
  <xsd:schema xmlns:xsd="http://www.w3.org/2001/XMLSchema" xmlns:xs="http://www.w3.org/2001/XMLSchema" xmlns:p="http://schemas.microsoft.com/office/2006/metadata/properties" xmlns:ns2="bdb919a6-24bd-45c7-9aa7-05cd8fb7ec1e" targetNamespace="http://schemas.microsoft.com/office/2006/metadata/properties" ma:root="true" ma:fieldsID="5ad102785787dee74c6426b7f3166052" ns2:_="">
    <xsd:import namespace="bdb919a6-24bd-45c7-9aa7-05cd8fb7ec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b919a6-24bd-45c7-9aa7-05cd8fb7ec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D73212-1EFF-4864-A2DC-398F0C38D9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4ED52F-FAAE-4464-BA3D-2909BCE35C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b919a6-24bd-45c7-9aa7-05cd8fb7e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2F608E-0C2D-49E8-9936-3A920F8D62E7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bdb919a6-24bd-45c7-9aa7-05cd8fb7ec1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3143</TotalTime>
  <Words>322</Words>
  <Application>Microsoft Office PowerPoint</Application>
  <PresentationFormat>Affichage à l'écran (16:9)</PresentationFormat>
  <Paragraphs>47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.HelveticaNeueDeskInterface-Regular</vt:lpstr>
      <vt:lpstr>Arial</vt:lpstr>
      <vt:lpstr>Calibri</vt:lpstr>
      <vt:lpstr>Courier New</vt:lpstr>
      <vt:lpstr>Georgia</vt:lpstr>
      <vt:lpstr>Thème Office</vt:lpstr>
      <vt:lpstr>Dispositif d’intervention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Geraldine Bil</dc:creator>
  <cp:lastModifiedBy>Henri Dumas</cp:lastModifiedBy>
  <cp:revision>91</cp:revision>
  <dcterms:created xsi:type="dcterms:W3CDTF">2017-10-31T20:14:55Z</dcterms:created>
  <dcterms:modified xsi:type="dcterms:W3CDTF">2018-01-18T09:37:22Z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0x010100E6136A30B133FB448E0425853531AD07</vt:lpwstr>
  </property>
</Properties>
</file>